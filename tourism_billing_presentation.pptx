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C1C1C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Accommodation</c:v>
                </c:pt>
                <c:pt idx="1">
                  <c:v>Meals</c:v>
                </c:pt>
                <c:pt idx="2">
                  <c:v>Tour</c:v>
                </c:pt>
                <c:pt idx="3">
                  <c:v>Transport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27000000</c:v>
                </c:pt>
                <c:pt idx="1">
                  <c:v>5040000</c:v>
                </c:pt>
                <c:pt idx="2">
                  <c:v>3600000</c:v>
                </c:pt>
                <c:pt idx="3">
                  <c:v>2120000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A556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A556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47c16e7-284b-413b-bec8-edbb0211fc09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Billed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Nile Safari</c:v>
                </c:pt>
                <c:pt idx="1">
                  <c:v>Pearl of Africa</c:v>
                </c:pt>
                <c:pt idx="2">
                  <c:v>Great Lakes</c:v>
                </c:pt>
                <c:pt idx="3">
                  <c:v>Savanna Explorers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25488000</c:v>
                </c:pt>
                <c:pt idx="1">
                  <c:v>12744000</c:v>
                </c:pt>
                <c:pt idx="2">
                  <c:v>6372000</c:v>
                </c:pt>
                <c:pt idx="3">
                  <c:v>2596000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A556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A556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c7639c2-ef6b-4f33-9a21-8ffbae8a105a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5943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Tourism Sector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400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Financial Billing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Systems Project — TWINNOMUJUNI EMMANUEL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50292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274320"/>
            <a:ext cx="2194560" cy="4572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3720" y="548640"/>
            <a:ext cx="173736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03720" y="54864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 SYSTEM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554480"/>
            <a:ext cx="822960" cy="8229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2560320"/>
            <a:ext cx="1737360" cy="685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903720" y="2560320"/>
            <a:ext cx="1737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TOURISM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BILLING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2025/BCS/183/PS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50292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502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Case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build this system?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60320"/>
            <a:ext cx="50292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60320"/>
            <a:ext cx="502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651760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06324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Entities, ERD &amp; relationships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03320"/>
            <a:ext cx="50292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03320"/>
            <a:ext cx="502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794760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Schema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20624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MySQL tables, keys, constraints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41732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417320"/>
            <a:ext cx="50292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417320"/>
            <a:ext cx="502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1508760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&amp; Queries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192024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data &amp; 5 live queries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56032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560320"/>
            <a:ext cx="50292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560320"/>
            <a:ext cx="502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2651760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&amp; Reports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306324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Revenue, agents, outstanding balances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70332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703320"/>
            <a:ext cx="50292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703320"/>
            <a:ext cx="502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94960" y="3794760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 &amp; Risks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420624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 assessment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BUSINESS CASE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Build This System?</a:t>
            </a:r>
            <a:endParaRPr lang="en-US" sz="28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65760" y="13716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365760" y="1371600"/>
            <a:ext cx="402336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365760" y="137160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THE PROBLEM</a:t>
            </a:r>
            <a:endParaRPr lang="en-US" sz="12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548640" y="1874520"/>
            <a:ext cx="365760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/ spreadsheet billing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leakage from billing errors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real-time payment tracking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Delayed financial reports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audit trail for transactions</a:t>
            </a:r>
            <a:endParaRPr lang="en-US" sz="13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4663440" y="13716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4663440" y="1371600"/>
            <a:ext cx="402336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4663440" y="137160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THE SOLUTION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4846320" y="1874520"/>
            <a:ext cx="365760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Centralised MySQL billing database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invoice generation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payment &amp; balance tracking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performance reports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referential integrity (InnoDB)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Comparable Real-World System studied: Tourplan — tourism management &amp; billing platform used across Africa, Asia &amp; Europe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BUSINESS CASE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 &amp; Cost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141732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5–15%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protected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billing errors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1920240" cy="141732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37160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~50%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2084832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Reduction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debtor days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1920240" cy="141732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37160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30×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2084832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invoice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325880"/>
            <a:ext cx="1920240" cy="141732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37160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75120" y="2084832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prep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saved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92608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Estimated First-Year Costs (UGX)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365760" y="3291840"/>
          <a:ext cx="4937760" cy="169164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 Item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Amount (UGX)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Hardware &amp; Server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4,500,000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Development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8,000,000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Staff Training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1,200,000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Annual Maintenance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1,500,000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1C1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 (Year 1)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1C1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~15,200,000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577840" y="29260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Intangible Benefits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77840" y="3291840"/>
            <a:ext cx="320040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trust &amp; satisfaction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 advantage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management decisions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morale &amp; productivity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 for growth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LOGICAL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Entities &amp; Relationships (ERD)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600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468880"/>
            <a:ext cx="1600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46888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920240"/>
            <a:ext cx="1600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92024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8740" y="1920240"/>
            <a:ext cx="1600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192024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325880"/>
            <a:ext cx="1600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132588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Invoice Item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1325880"/>
            <a:ext cx="1600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0" y="132588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2651760"/>
            <a:ext cx="1600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265176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2651760"/>
            <a:ext cx="1600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265176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03120" y="3291840"/>
            <a:ext cx="1600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103120" y="329184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187452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PLACES (1:M)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292608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FACILITATES (0/1:M)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46120" y="237744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(1:M)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16220" y="173736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CONTAINS (1:M)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69480" y="1792605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 (M:1)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40680" y="310896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RECEIVES (1:M)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60920" y="306832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(M:1)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00020" y="374904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SELECTS (M:N)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429768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343400"/>
            <a:ext cx="8138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 Types:  </a:t>
            </a:r>
            <a:r>
              <a:rPr lang="en-US" sz="11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1:M = One to Many   </a:t>
            </a:r>
            <a:r>
              <a:rPr lang="en-US" sz="11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M:N = Many to Many (resolved via junction table)   </a:t>
            </a:r>
            <a:r>
              <a:rPr lang="en-US" sz="11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0/1:M = Optional One to Many   </a:t>
            </a:r>
            <a:r>
              <a:rPr lang="en-US" sz="1100" i="1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Recursive = Staff SUPERVISES Staff</a:t>
            </a:r>
            <a:endParaRPr lang="en-US" sz="1100" dirty="0"/>
          </a:p>
        </p:txBody>
      </p:sp>
      <p:cxnSp>
        <p:nvCxnSpPr>
          <p:cNvPr id="33" name="Straight Arrow Connector 32"/>
          <p:cNvCxnSpPr>
            <a:stCxn id="6" idx="3"/>
          </p:cNvCxnSpPr>
          <p:nvPr/>
        </p:nvCxnSpPr>
        <p:spPr>
          <a:xfrm>
            <a:off x="1920240" y="1645920"/>
            <a:ext cx="18288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0" idx="3"/>
            <a:endCxn id="12" idx="1"/>
          </p:cNvCxnSpPr>
          <p:nvPr/>
        </p:nvCxnSpPr>
        <p:spPr>
          <a:xfrm>
            <a:off x="3703320" y="2148840"/>
            <a:ext cx="1371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14" idx="1"/>
          </p:cNvCxnSpPr>
          <p:nvPr/>
        </p:nvCxnSpPr>
        <p:spPr>
          <a:xfrm flipV="1">
            <a:off x="5185410" y="1554480"/>
            <a:ext cx="392430" cy="3702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4" idx="3"/>
            <a:endCxn id="16" idx="1"/>
          </p:cNvCxnSpPr>
          <p:nvPr/>
        </p:nvCxnSpPr>
        <p:spPr>
          <a:xfrm>
            <a:off x="7178040" y="155448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5236210" y="2434590"/>
            <a:ext cx="252730" cy="2171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8" idx="3"/>
            <a:endCxn id="20" idx="1"/>
          </p:cNvCxnSpPr>
          <p:nvPr/>
        </p:nvCxnSpPr>
        <p:spPr>
          <a:xfrm>
            <a:off x="7178040" y="288036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1953260" y="2434590"/>
            <a:ext cx="149860" cy="158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3023235" y="2399030"/>
            <a:ext cx="0" cy="80137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PHYSICAL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Schema — 11 Tables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65760" y="1325880"/>
          <a:ext cx="8412480" cy="361188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3474720"/>
              </a:tblGrid>
              <a:tr h="300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Table Name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Primary Key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Foreign Keys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agents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agent_id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staff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staff_id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supervisor_id → staff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services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service_id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packages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package_id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package_services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(package_id, service_id)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→ packages, services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bookings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booking_id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→ customers, agents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booking_packages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(booking_id, package_id)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→ bookings, packages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invoices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invoice_id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→ bookings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invoice_items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item_id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→ invoices, services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payments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payment_id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→ invoices, staff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MySQL Implementation Highlights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120640" cy="3611880"/>
          </a:xfrm>
          <a:prstGeom prst="rect">
            <a:avLst/>
          </a:prstGeom>
          <a:solidFill>
            <a:srgbClr val="1C1C1C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4846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INVOICES table (key fields)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4846320" cy="3063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 invoices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invoice_id   INT AUTO_INCREMENT PRIMARY KEY,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booking_id   INT NOT NULL,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invoice_date DATE NOT NULL,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due_date     DATE NOT NULL,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subtotal     DECIMAL(12,2) DEFAULT 0.00,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tax_rate     DECIMAL(5,2)  DEFAULT 18.00,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tax_amount   DECIMAL(12,2) DEFAULT 0.00,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total_amount DECIMAL(12,2) DEFAULT 0.00,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amount_paid  DECIMAL(12,2) DEFAULT 0.00,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status       ENUM('Draft','Issued',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'Partially Paid','Paid',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'Overdue','Cancelled'),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FOREIGN KEY (booking_id)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REFERENCES bookings(booking_id)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ENGINE=InnoDB;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0" y="1325880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 Decisions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23560" y="1755648"/>
            <a:ext cx="73152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755648"/>
            <a:ext cx="297180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InnoDB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002536"/>
            <a:ext cx="29718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Enforces FK constraints, supports transactions &amp; crash recovery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2414016"/>
            <a:ext cx="73152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414016"/>
            <a:ext cx="297180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ENUM for status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660904"/>
            <a:ext cx="29718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Restricts invoice status to valid values only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3072384"/>
            <a:ext cx="73152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3072384"/>
            <a:ext cx="297180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DECIMAL(12,2)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3319272"/>
            <a:ext cx="29718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Precise currency storage — no floating point errors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23560" y="3730752"/>
            <a:ext cx="73152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730752"/>
            <a:ext cx="297180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column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3977640"/>
            <a:ext cx="29718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invoice_items.line_total = qty × unit_price, always accurate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4389120"/>
            <a:ext cx="73152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4389120"/>
            <a:ext cx="297180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Recursive FK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4636008"/>
            <a:ext cx="29718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staff.supervisor_id → staff.staff_id (unary relationship)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Populated — Sample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9601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960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7320" y="1325880"/>
            <a:ext cx="9601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17320" y="1371600"/>
            <a:ext cx="960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18288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325880"/>
            <a:ext cx="9601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371600"/>
            <a:ext cx="960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68880" y="18288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1325880"/>
            <a:ext cx="9601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1371600"/>
            <a:ext cx="960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20440" y="18288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325880"/>
            <a:ext cx="9601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1371600"/>
            <a:ext cx="960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72000" y="18288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1325880"/>
            <a:ext cx="9601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23560" y="1371600"/>
            <a:ext cx="960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23560" y="18288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Invoices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1325880"/>
            <a:ext cx="9601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1371600"/>
            <a:ext cx="960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675120" y="18288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Invoice Items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26680" y="1325880"/>
            <a:ext cx="9601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26680" y="1371600"/>
            <a:ext cx="960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726680" y="1828800"/>
            <a:ext cx="960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24231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Sample Invoice Data</a:t>
            </a:r>
            <a:endParaRPr lang="en-US" sz="13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" y="2926080"/>
            <a:ext cx="8786495" cy="1644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QUERIES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 Key Database Queries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48640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1325880"/>
            <a:ext cx="7772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371600"/>
            <a:ext cx="749808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 Invoice 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18488"/>
            <a:ext cx="749808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 customers → bookings → invoices → invoice_items → services. Returns complete invoice with line items, totals &amp; balance due.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548640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75688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2075688"/>
            <a:ext cx="7772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2121408"/>
            <a:ext cx="749808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Outstanding Balances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368296"/>
            <a:ext cx="749808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 invoices WHERE amount_paid &lt; total_amount. Shows balance due and DATEDIFF days overdue. Used for debt collection.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25496"/>
            <a:ext cx="548640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25496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5840" y="2825496"/>
            <a:ext cx="7772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2871216"/>
            <a:ext cx="749808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Revenue by Service Type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118104"/>
            <a:ext cx="749808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BY service_type. SUM of line_total per category. Reveals which services (Accommodation, Tour, etc.) drive the most revenue.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75304"/>
            <a:ext cx="548640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75304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" y="3575304"/>
            <a:ext cx="7772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3621024"/>
            <a:ext cx="749808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Agent Performance Report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867912"/>
            <a:ext cx="749808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 agents → bookings → invoices. Shows total bookings, billed amount, collected &amp; commission due per agent.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325112"/>
            <a:ext cx="548640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25112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05840" y="4325112"/>
            <a:ext cx="7772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97280" y="4370832"/>
            <a:ext cx="749808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Customer Payment History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617720"/>
            <a:ext cx="749808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payment trail per customer: JOIN customers → bookings → invoices → payments → staff. Used for billing queries.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Query Results — Visual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Q3: Revenue by Service Type (UGX)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627632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298448"/>
            <a:ext cx="4023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Q4: Agent Billing Performance (UGX)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663440" y="1627632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Accommodation dominates at 71.5% of all revenue  |  Nile Safari Agents generated the highest billed total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Risks &amp; System Limitations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Risks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1920240" cy="475488"/>
          </a:xfrm>
          <a:prstGeom prst="rect">
            <a:avLst/>
          </a:prstGeom>
          <a:solidFill>
            <a:srgbClr val="FDECEA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19072"/>
            <a:ext cx="1920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Loss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719072"/>
            <a:ext cx="210312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719072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Automated daily backups to external storage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40864"/>
            <a:ext cx="1920240" cy="475488"/>
          </a:xfrm>
          <a:prstGeom prst="rect">
            <a:avLst/>
          </a:prstGeom>
          <a:solidFill>
            <a:srgbClr val="FDECEA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40864"/>
            <a:ext cx="1920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Unauthorised Access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2340864"/>
            <a:ext cx="210312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340864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Role-based access control + strong passwords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1920240" cy="475488"/>
          </a:xfrm>
          <a:prstGeom prst="rect">
            <a:avLst/>
          </a:prstGeom>
          <a:solidFill>
            <a:srgbClr val="FDECEA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62656"/>
            <a:ext cx="1920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Staff Adoption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2962656"/>
            <a:ext cx="210312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962656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Structured training + management endorsement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584448"/>
            <a:ext cx="1920240" cy="475488"/>
          </a:xfrm>
          <a:prstGeom prst="rect">
            <a:avLst/>
          </a:prstGeom>
          <a:solidFill>
            <a:srgbClr val="FDECEA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84448"/>
            <a:ext cx="1920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Outages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31720" y="3584448"/>
            <a:ext cx="210312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3584448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UPS installation + auto-save on transactions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206240"/>
            <a:ext cx="1920240" cy="475488"/>
          </a:xfrm>
          <a:prstGeom prst="rect">
            <a:avLst/>
          </a:prstGeom>
          <a:solidFill>
            <a:srgbClr val="FDECEA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06240"/>
            <a:ext cx="1920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Migration Errors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31720" y="4206240"/>
            <a:ext cx="210312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4206240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Validation rules + parallel running period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132588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Limitations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1719072"/>
            <a:ext cx="402336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currency (UGX only)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online booking integration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automated payment gateway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email/SMS notifications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Command-line interface only (no GUI)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for small-medium businesses only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47472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Successfully designed and implemented a full 11-table relational database in MySQL 8.0 InnoDB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47472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case demonstrates strong ROI — cost recovery within 12–18 months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347472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real queries validated: invoicing, outstanding balances, revenue analysis, agent performance, payment history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47472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74720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normalised views created for fast reporting: customer invoices, invoice detail, outstanding balances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347472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60520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Referential integrity enforced across all 11 tables via foreign key constraints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2B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Tourism Sector Financial Billing System  |  Database Systems Project  |  2025/2026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6.4,&quot;left&quot;:28.8,&quot;top&quot;:108,&quot;width&quot;:655.2}"/>
</p:tagLst>
</file>

<file path=ppt/tags/tag2.xml><?xml version="1.0" encoding="utf-8"?>
<p:tagLst xmlns:p="http://schemas.openxmlformats.org/presentationml/2006/main">
  <p:tag name="KSO_WM_DIAGRAM_VIRTUALLY_FRAME" val="{&quot;height&quot;:266.4,&quot;left&quot;:28.8,&quot;top&quot;:108,&quot;width&quot;:655.2}"/>
</p:tagLst>
</file>

<file path=ppt/tags/tag3.xml><?xml version="1.0" encoding="utf-8"?>
<p:tagLst xmlns:p="http://schemas.openxmlformats.org/presentationml/2006/main">
  <p:tag name="KSO_WM_DIAGRAM_VIRTUALLY_FRAME" val="{&quot;height&quot;:266.4,&quot;left&quot;:28.8,&quot;top&quot;:108,&quot;width&quot;:655.2}"/>
</p:tagLst>
</file>

<file path=ppt/tags/tag4.xml><?xml version="1.0" encoding="utf-8"?>
<p:tagLst xmlns:p="http://schemas.openxmlformats.org/presentationml/2006/main">
  <p:tag name="KSO_WM_DIAGRAM_VIRTUALLY_FRAME" val="{&quot;height&quot;:266.4,&quot;left&quot;:28.8,&quot;top&quot;:108,&quot;width&quot;:655.2}"/>
</p:tagLst>
</file>

<file path=ppt/tags/tag5.xml><?xml version="1.0" encoding="utf-8"?>
<p:tagLst xmlns:p="http://schemas.openxmlformats.org/presentationml/2006/main">
  <p:tag name="KSO_WM_DIAGRAM_VIRTUALLY_FRAME" val="{&quot;height&quot;:266.4,&quot;left&quot;:28.8,&quot;top&quot;:108,&quot;width&quot;:655.2}"/>
</p:tagLst>
</file>

<file path=ppt/tags/tag6.xml><?xml version="1.0" encoding="utf-8"?>
<p:tagLst xmlns:p="http://schemas.openxmlformats.org/presentationml/2006/main">
  <p:tag name="KSO_WM_DIAGRAM_VIRTUALLY_FRAME" val="{&quot;height&quot;:266.4,&quot;left&quot;:28.8,&quot;top&quot;:108,&quot;width&quot;:655.2}"/>
</p:tagLst>
</file>

<file path=ppt/tags/tag7.xml><?xml version="1.0" encoding="utf-8"?>
<p:tagLst xmlns:p="http://schemas.openxmlformats.org/presentationml/2006/main">
  <p:tag name="KSO_WM_DIAGRAM_VIRTUALLY_FRAME" val="{&quot;height&quot;:266.4,&quot;left&quot;:28.8,&quot;top&quot;:108,&quot;width&quot;:655.2}"/>
</p:tagLst>
</file>

<file path=ppt/tags/tag8.xml><?xml version="1.0" encoding="utf-8"?>
<p:tagLst xmlns:p="http://schemas.openxmlformats.org/presentationml/2006/main">
  <p:tag name="KSO_WM_DIAGRAM_VIRTUALLY_FRAME" val="{&quot;height&quot;:266.4,&quot;left&quot;:28.8,&quot;top&quot;:108,&quot;width&quot;:65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5441</Words>
  <Application>WPS Presentation</Application>
  <PresentationFormat>On-screen Show (16:9)</PresentationFormat>
  <Paragraphs>435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Sector Financial Billing System</dc:title>
  <dc:creator>PptxGenJS</dc:creator>
  <dc:subject>PptxGenJS Presentation</dc:subject>
  <cp:lastModifiedBy>SIZZY AFRO</cp:lastModifiedBy>
  <cp:revision>4</cp:revision>
  <dcterms:created xsi:type="dcterms:W3CDTF">2026-05-05T12:37:00Z</dcterms:created>
  <dcterms:modified xsi:type="dcterms:W3CDTF">2026-05-06T20:03:51Z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A504FC75C71643278ADEB5E81A6D6F72_12</vt:lpwstr>
  </property>
  <property fmtid="{D5CDD505-2E9C-101B-9397-08002B2CF9AE}" pid="3" name="KSOProductBuildVer">
    <vt:lpwstr>1033-12.2.0.23196</vt:lpwstr>
  </property>
</Properties>
</file>